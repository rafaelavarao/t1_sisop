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014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(0:30) Apresentar o grupo e o tema: contar objetos em uma matriz binária, primeiro de forma sequencial e depois em paralelo com threads POSIX. Dizer que a apresentação cobre o problema, a solução, o algoritmo, os testes, o desempenho e o que aprendemos.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(1:00) Explicar o problema: a matriz tem 0 (fundo) e 1 (primeiro plano). Um objeto é um conjunto de células 1 vizinhas, contando também as diagonais, por isso conectividade 8. No exemplo ao lado há três objetos: A, B e C. O trabalho pede duas versões que deem sempre o mesmo resultado: uma sequencial, de referência, e uma paralela com processos ou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(0:50) A versão sequencial é a referência de correção. Ela varre a matriz; quando encontra um 1 que ainda não foi rotulado, conta um objeto e faz um flood fill a partir dali: empilha a célula, desempilha, olha os oito vizinhos e empilha os que são 1 e ainda não têm rótulo. A célula é rotulada no momento em que entra na pilha, então nunca entra duas vezes. Usamos pilha explícita no heap em vez de recursão para aguentar objetos muito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(1:10) Escolhemos threads POSIX porque elas compartilham a memória: todas leem a mesma matriz sem cópia. A matriz é dividida em uma grade de blocos, e o número de blocos em linhas e colunas vem da linha de comando, então o número de threads é configurável. Cada thread faz o mesmo flood fill da versão sequencial, mas restrito ao seu bloco, ignorando vizinhos de fora. Para que duas threads nunca criem o mesmo rótulo, cada bloco recebe uma faixa exclusiva, do tamanho da sua área, calculada antes de as threads começarem.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(0:40) Esta é a decisão central do projeto. Em vez de proteger dados compartilhados com mutex, desenhamos a divisão para que não exista escrita compartilhada: a matriz de entrada é só leitura, cada thread escreve apenas nas células do seu bloco e usa apenas a sua faixa de rótulos. Sem bloqueios, não há como ter deadlock. O pthread_join garante que a thread principal só leia os resultados depois que todas terminaram. Confirmamos com o ThreadSanitizer, que não apontou nenhuma condição de corrida.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(1:20) Este é o ponto mais delicado do trabalho. Um objeto que atravessa uma fronteira é contado uma vez em cada bloco. No exemplo 3, o quadrado central cai exatamente no encontro dos quatro blocos e vira quatro objetos locais, com os rótulos 2, 18, 33 e 49. Somando tudo teríamos 8, mas o certo é 5. Depois do pthread_join, a thread principal percorre as fronteiras verticais e horizontais; para cada célula da borda olha as três vizinhas do outro lado, o que cobre as diagonais e o encontro de quatro blocos. Quando as duas células são 1, une os dois rótulos em uma estrutura de união-busca. No fim, conta as raízes distintas. O custo é proporcional ao perímetro dos blocos, bem menor que 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(1:10) Demonstração ao vivo no terminal (Ubuntu no WSL). Rodar make para compilar em C89 sem avisos; make test para executar as cinco matrizes obrigatórias nas duas versões; depois a matriz 2000 x 2000 na versão sequencial e na paralela com grade 4 x 4, mostrando que as duas dão 122710 objetos e que o tempo da paralela é menor. A matriz grande precisa ter sido gerada antes com: ./gera-matriz 2000 2000 0.35 42 tests/desempenho.txt. O tempo mostrado no slide é de uma das medições; ao vivo ele varia um pouco.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(0:50) A correção foi verificada em três níveis. Primeiro, as cinco matrizes do enunciado, com os resultados esperados nas duas versões. Segundo, quatro casos que criamos para forçar situações difíceis: matriz só de zeros, um objeto único em forma de cruz que passa por todos os blocos, conexões apenas diagonais e células isoladas. Rodamos cada um em várias grades, inclusive 16 x 16, em que cada bloco fica com uma única célula e tudo depende da consolidação. Terceiro, a matriz 2000 x 2000, que deu 122710 objetos em todas as execuções. Além disso, o ThreadSanitizer não apontou condições de corrida.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(1:10) Medimos com clock_gettime, três repetições por configuração, usando a mediana. A sequencial levou 104,5 ms. Com 2 threads o tempo caiu pela metade, aceleração de 2,01, praticamente ideal. Com 4 threads, 3,13. Com 8 não houve ganho sobre 4, e com 16 chegamos a 4,68, a melhor marca, mas com eficiência de só 0,29. A máquina tem 12 processadores lógicos, então 16 threads já disputam CPU entre si; além disso, a maior parte dos núcleos é de eficiência, mais lenta, o que provavelmente explica a saturação. A parte sequencial que resta (consolidação e contagem final) também limita o ganho, como prevê a Lei de Amdahl. Nas matrizes pequenas do enunciado a versão paralela perde, porque criar threads custa centenas de microssegundos e o trabalho útil leva poucos.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(0:50) O maior desafio foi a linguagem C, principalmente entender ponteiro para ponteiro: a matriz é um int ** sobre um bloco contíguo de memória, e a função que carrega a matriz recebe um int *** para devolver o que alocou. Também tivemos uma primeira versão com threads que contava errado e usava um mutex global, o que na prática deixava o trabalho sequencial; refizemos com blocos independentes. O trabalho nos ensinou sobre threads de forma profunda, o que vai nos ajudar como desenvolvedores: aprendemos a evitar corrida pelo desenho, que a consolidação é tão importante quanto a divisão, que o ganho é limitado pelo hardware e pela parte sequencial, e que medir exige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(0:30) Fechar comparando as duas abordagens. A sequencial, um flood fill com pilha em uma única thread, é simples, serviu de referência de correção e continua sendo a melhor escolha para matrizes pequenas. A paralela divide a matriz em blocos, roda uma thread por bloco e depois une os rótulos nas fronteiras; ela deu o mesmo resultado da sequencial em todos os testes, sem mutex, e foi até 4,68 vezes mais rápida na matriz 2000 x 2000. A lição é que a abordagem paralela só compensa quando o volume de dados é grande, porque criar threads tem custo. Como próximo passo, usaríamos um conjunto fixo de threads com uma fila de blocos, para não criar mais threads do que processadores. 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8FB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SISTEMAS OPERACIONAIS · 2026/II · PUCRS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40000"/>
            <a:ext cx="11379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Contagem paralela de objetos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812800" y="359410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Componentes conexos em uma matriz binária, com Pthreads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12800" y="54711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Rafaela Varão · Gabriel Gauterio · Gabriel Dalbem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Filipo Novo Mór · Turma 330 · Trabalho prático 1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problema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2800" y="1728470"/>
            <a:ext cx="722071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Contar os objetos de uma matriz binária.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12800" y="2345690"/>
            <a:ext cx="722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objeto é um grupo de células </a:t>
            </a:r>
            <a:r>
              <a:rPr lang="en-US" sz="1600" b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ligadas na horizontal, na vertical ou na diagonal: </a:t>
            </a:r>
            <a:r>
              <a:rPr lang="en-US" sz="1600" b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conectividade 8</a:t>
            </a: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815975" y="3171825"/>
            <a:ext cx="7004050" cy="1852930"/>
          </a:xfrm>
          <a:prstGeom prst="roundRect">
            <a:avLst>
              <a:gd name="adj" fmla="val 5312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71880" y="3427730"/>
            <a:ext cx="668700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Entrada:</a:t>
            </a: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arquivo texto com 0 e 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71880" y="3813810"/>
            <a:ext cx="668700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Saída:</a:t>
            </a: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número de objetos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071880" y="4199890"/>
            <a:ext cx="66870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Exigência:</a:t>
            </a: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versão sequencial e versão paralela com o mesmo resultado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432800" y="17221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9029700" y="17221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9626600" y="17221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223500" y="17221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0820400" y="17221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32800" y="23190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029700" y="23190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9626600" y="23190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0223500" y="23190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0820400" y="23190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432800" y="29159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029700" y="29159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626600" y="29159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223500" y="29159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10820400" y="29159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432800" y="35128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029700" y="35128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626600" y="35128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0223500" y="35128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10820400" y="35128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432800" y="41097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9029700" y="41097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9626600" y="41097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0223500" y="41097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0820400" y="4109720"/>
            <a:ext cx="558800" cy="558800"/>
          </a:xfrm>
          <a:prstGeom prst="roundRect">
            <a:avLst>
              <a:gd name="adj" fmla="val 9091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8176364" y="4820920"/>
            <a:ext cx="3459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1 do enunciado (5 × 5): 3 objetos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Versão sequencial: flood fill iterativo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5975" y="1725295"/>
            <a:ext cx="3380264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71880" y="1981200"/>
            <a:ext cx="295450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1071880" y="2585720"/>
            <a:ext cx="29545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Varrer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71880" y="3022600"/>
            <a:ext cx="29545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Percorre a matriz linha a linha, célula por célula.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405789" y="1725295"/>
            <a:ext cx="3380343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1694" y="198120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4661694" y="2585720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Contar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661694" y="302260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Achou um 1 ainda sem rótulo? É um objeto novo: soma 1 ao contador.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995682" y="1725295"/>
            <a:ext cx="3380343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51587" y="198120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8251587" y="2585720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Rotular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8251587" y="302260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 o objeto inteiro com uma pilha explícita, olhando os 8 vizinhos.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12800" y="454152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O(L × C): cada célula entra na pilha no máximo uma vez. Sem recursão, não há risco de estourar a pilha de chamadas em objetos grandes.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Versão paralela: uma thread por bloco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31850" y="1722120"/>
            <a:ext cx="0" cy="955040"/>
          </a:xfrm>
          <a:prstGeom prst="line">
            <a:avLst/>
          </a:prstGeom>
          <a:noFill/>
          <a:ln w="38100">
            <a:solidFill>
              <a:srgbClr val="1F5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51560" y="1722120"/>
            <a:ext cx="603295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Grade de blocos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51560" y="2108200"/>
            <a:ext cx="60329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matriz é dividida em blocos retangulares. A grade vem da linha de comando: 2 × 2 cria 4 threads.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31850" y="2880361"/>
            <a:ext cx="0" cy="955040"/>
          </a:xfrm>
          <a:prstGeom prst="line">
            <a:avLst/>
          </a:prstGeom>
          <a:noFill/>
          <a:ln w="38100">
            <a:solidFill>
              <a:srgbClr val="1F5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880361"/>
            <a:ext cx="603295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Flood fill local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051560" y="3266441"/>
            <a:ext cx="60329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thread rotula só os objetos dentro do seu bloco, todas ao mesmo tempo.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831850" y="4038600"/>
            <a:ext cx="0" cy="955040"/>
          </a:xfrm>
          <a:prstGeom prst="line">
            <a:avLst/>
          </a:prstGeom>
          <a:noFill/>
          <a:ln w="38100">
            <a:solidFill>
              <a:srgbClr val="1F5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4038600"/>
            <a:ext cx="603295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Rótulos exclusivos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1051560" y="4424680"/>
            <a:ext cx="60329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bloco recebe uma faixa própria de rótulos, reservada antes de criar as threads.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518400" y="1854200"/>
            <a:ext cx="1879600" cy="1270000"/>
          </a:xfrm>
          <a:prstGeom prst="roundRect">
            <a:avLst>
              <a:gd name="adj" fmla="val 8000"/>
            </a:avLst>
          </a:prstGeom>
          <a:solidFill>
            <a:srgbClr val="1F5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957185" y="2214880"/>
            <a:ext cx="10020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1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799832" y="2550161"/>
            <a:ext cx="1316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DFD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rótulos 1-16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9499600" y="1854200"/>
            <a:ext cx="1879600" cy="1270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938385" y="2214880"/>
            <a:ext cx="10020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726168" y="2550161"/>
            <a:ext cx="1426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DFD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rótulos 17-32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7518400" y="3225800"/>
            <a:ext cx="1879600" cy="1270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957185" y="3586480"/>
            <a:ext cx="10020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3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7744968" y="3921761"/>
            <a:ext cx="1426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DFD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rótulos 33-48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9499600" y="3225800"/>
            <a:ext cx="1879600" cy="1270000"/>
          </a:xfrm>
          <a:prstGeom prst="roundRect">
            <a:avLst>
              <a:gd name="adj" fmla="val 8000"/>
            </a:avLst>
          </a:prstGeom>
          <a:solidFill>
            <a:srgbClr val="1F5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938385" y="3586480"/>
            <a:ext cx="10020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Thread 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726168" y="3921761"/>
            <a:ext cx="1426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DFD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rótulos 49-64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282940" y="4648200"/>
            <a:ext cx="2331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 8 × 8 com grade 2 × 2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F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DFD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SINCRONIZAÇÃO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72361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mutex.</a:t>
            </a:r>
            <a:endParaRPr lang="en-US" sz="600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Nenhuma região crítica.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812800" y="5318761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thread escreve só no seu bloco e usa só os seus rótulos. A única sincronização é o pthread_join.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Consolidação das fronteiras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41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1951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15761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9571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141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11951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5761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9571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141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1951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5761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9571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41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1951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5761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9571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4397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8207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1749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582750" y="1722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4397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8207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201749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582750" y="2103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24397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8207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201749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3582750" y="2484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4397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28207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201749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3582750" y="28651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8141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1951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5761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9571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8141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11951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5761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9571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8141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1951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5761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19571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141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11951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5761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1200"/>
          </a:p>
        </p:txBody>
      </p:sp>
      <p:sp>
        <p:nvSpPr>
          <p:cNvPr id="50" name="Shape 48"/>
          <p:cNvSpPr/>
          <p:nvPr/>
        </p:nvSpPr>
        <p:spPr>
          <a:xfrm>
            <a:off x="19571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24397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</a:t>
            </a:r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28207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3201749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3582750" y="3347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24397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28207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201749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3582750" y="3728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24397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28207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201749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582750" y="4109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1200"/>
          </a:p>
        </p:txBody>
      </p:sp>
      <p:sp>
        <p:nvSpPr>
          <p:cNvPr id="63" name="Shape 61"/>
          <p:cNvSpPr/>
          <p:nvPr/>
        </p:nvSpPr>
        <p:spPr>
          <a:xfrm>
            <a:off x="24397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28207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E4E2D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3201749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1200"/>
          </a:p>
        </p:txBody>
      </p:sp>
      <p:sp>
        <p:nvSpPr>
          <p:cNvPr id="66" name="Text 64"/>
          <p:cNvSpPr/>
          <p:nvPr/>
        </p:nvSpPr>
        <p:spPr>
          <a:xfrm>
            <a:off x="3582750" y="4490721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5F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DFD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812800" y="4998721"/>
            <a:ext cx="37523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3 com grade 2 × 2 e os rótulos locais</a:t>
            </a:r>
            <a:endParaRPr lang="en-US" sz="1200"/>
          </a:p>
        </p:txBody>
      </p:sp>
      <p:sp>
        <p:nvSpPr>
          <p:cNvPr id="68" name="Text 66"/>
          <p:cNvSpPr/>
          <p:nvPr/>
        </p:nvSpPr>
        <p:spPr>
          <a:xfrm>
            <a:off x="4549378" y="2189482"/>
            <a:ext cx="7034717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Somar as contagens dos blocos daria </a:t>
            </a: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r>
              <a:rPr lang="en-US" sz="22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resposta certa é </a:t>
            </a: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r>
              <a:rPr lang="en-US" sz="22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00"/>
          </a:p>
        </p:txBody>
      </p:sp>
      <p:sp>
        <p:nvSpPr>
          <p:cNvPr id="69" name="Text 67"/>
          <p:cNvSpPr/>
          <p:nvPr/>
        </p:nvSpPr>
        <p:spPr>
          <a:xfrm>
            <a:off x="4549378" y="3119121"/>
            <a:ext cx="7034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quadrado central (em laranja) está nos quatro blocos e recebeu quatro rótulos: 2, 18, 33 e 49.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4549378" y="3891282"/>
            <a:ext cx="703471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do join, a thread principal percorre as fronteiras, inclusive nas diagonais, e une os rótulos vizinhos com união-busca. O resultado é o número de raízes distintas.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Demonstração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2800" y="1722121"/>
            <a:ext cx="10566400" cy="3241040"/>
          </a:xfrm>
          <a:prstGeom prst="roundRect">
            <a:avLst>
              <a:gd name="adj" fmla="val 3135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68400" y="2026921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make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68400" y="2362200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make test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68400" y="2697482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./conta-objetos-sequencial tests/desempenho.txt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168400" y="3032761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./conta-objetos-paralelo tests/desempenho.txt 4 4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68400" y="3368039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Dimensoes: 2000 x 2000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168400" y="3703321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Blocos: 4 x 4 (16 threads)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168400" y="4038600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Objetos: 122710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68400" y="4373882"/>
            <a:ext cx="10150856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Tempo (s): 0.022354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12800" y="536956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últimos argumentos são a grade: linhas de blocos e colunas de blocos.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Testes de correção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5975" y="1725296"/>
            <a:ext cx="3380264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71880" y="1981200"/>
            <a:ext cx="295450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1071880" y="2585721"/>
            <a:ext cx="29545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Matrizes obrigatórias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71880" y="3022600"/>
            <a:ext cx="295450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 3, 4, 5, 6 e 7, iguais aos do enunciado nas duas versões.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405789" y="1725296"/>
            <a:ext cx="3380343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1694" y="198120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4661694" y="2585721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Casos adicionais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661694" y="302260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zeros, objeto único em todos os blocos, só diagonais e células isoladas.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995682" y="1725296"/>
            <a:ext cx="3380343" cy="2406650"/>
          </a:xfrm>
          <a:prstGeom prst="roundRect">
            <a:avLst>
              <a:gd name="adj" fmla="val 4090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51587" y="198120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F5F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122710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8251587" y="2585721"/>
            <a:ext cx="295458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Matriz 2000 × 2000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8251587" y="302260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número de objetos em todas as grades e em todas as repetições.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12800" y="4541521"/>
            <a:ext cx="1137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Grades de 1 × 2 até 16 × 16. ThreadSanitizer sem avisos de condição de corrida. Compilação em C89 sem avisos.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Desempenho na matriz 2000 × 2000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812800" y="1681479"/>
            <a:ext cx="215836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Sequencial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060700" y="1671321"/>
            <a:ext cx="5207000" cy="304800"/>
          </a:xfrm>
          <a:custGeom>
            <a:avLst/>
            <a:gdLst/>
            <a:ahLst/>
            <a:cxnLst/>
            <a:rect l="l" t="t" r="r" b="b"/>
            <a:pathLst>
              <a:path w="5207000" h="304800">
                <a:moveTo>
                  <a:pt x="0" y="0"/>
                </a:moveTo>
                <a:lnTo>
                  <a:pt x="5168900" y="0"/>
                </a:lnTo>
                <a:arcTo wR="38100" hR="38100" stAng="16200000" swAng="5400000"/>
                <a:lnTo>
                  <a:pt x="5207000" y="266700"/>
                </a:lnTo>
                <a:arcTo wR="38100" hR="38100" stAng="0" swAng="5400000"/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421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420100" y="1681479"/>
            <a:ext cx="929084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104,5 ms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12800" y="2113279"/>
            <a:ext cx="215836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threads (1 × 2)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3060700" y="2103121"/>
            <a:ext cx="2597150" cy="304800"/>
          </a:xfrm>
          <a:custGeom>
            <a:avLst/>
            <a:gdLst/>
            <a:ahLst/>
            <a:cxnLst/>
            <a:rect l="l" t="t" r="r" b="b"/>
            <a:pathLst>
              <a:path w="2597150" h="304800">
                <a:moveTo>
                  <a:pt x="0" y="0"/>
                </a:moveTo>
                <a:lnTo>
                  <a:pt x="2559050" y="0"/>
                </a:lnTo>
                <a:arcTo wR="38100" hR="38100" stAng="16200000" swAng="5400000"/>
                <a:lnTo>
                  <a:pt x="2597150" y="266700"/>
                </a:lnTo>
                <a:arcTo wR="38100" hR="38100" stAng="0" swAng="5400000"/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A78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810250" y="2113279"/>
            <a:ext cx="1522413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52,1 ms · 2,01×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12800" y="2545079"/>
            <a:ext cx="215836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threads (2 × 2)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3060700" y="2534921"/>
            <a:ext cx="1663700" cy="304800"/>
          </a:xfrm>
          <a:custGeom>
            <a:avLst/>
            <a:gdLst/>
            <a:ahLst/>
            <a:cxnLst/>
            <a:rect l="l" t="t" r="r" b="b"/>
            <a:pathLst>
              <a:path w="1663700" h="304800">
                <a:moveTo>
                  <a:pt x="0" y="0"/>
                </a:moveTo>
                <a:lnTo>
                  <a:pt x="1625600" y="0"/>
                </a:lnTo>
                <a:arcTo wR="38100" hR="38100" stAng="16200000" swAng="5400000"/>
                <a:lnTo>
                  <a:pt x="1663700" y="266700"/>
                </a:lnTo>
                <a:arcTo wR="38100" hR="38100" stAng="0" swAng="5400000"/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A78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76800" y="2545079"/>
            <a:ext cx="1522413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33,4 ms · 3,13×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12800" y="2976879"/>
            <a:ext cx="215836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threads (2 × 4)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060700" y="2966721"/>
            <a:ext cx="1746250" cy="304800"/>
          </a:xfrm>
          <a:custGeom>
            <a:avLst/>
            <a:gdLst/>
            <a:ahLst/>
            <a:cxnLst/>
            <a:rect l="l" t="t" r="r" b="b"/>
            <a:pathLst>
              <a:path w="1746250" h="304800">
                <a:moveTo>
                  <a:pt x="0" y="0"/>
                </a:moveTo>
                <a:lnTo>
                  <a:pt x="1708150" y="0"/>
                </a:lnTo>
                <a:arcTo wR="38100" hR="38100" stAng="16200000" swAng="5400000"/>
                <a:lnTo>
                  <a:pt x="1746250" y="266700"/>
                </a:lnTo>
                <a:arcTo wR="38100" hR="38100" stAng="0" swAng="5400000"/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A78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59350" y="2976879"/>
            <a:ext cx="1522413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35,0 ms · 2,99×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12800" y="3408679"/>
            <a:ext cx="215836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threads (4 × 4)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3060700" y="3398521"/>
            <a:ext cx="1111250" cy="304800"/>
          </a:xfrm>
          <a:custGeom>
            <a:avLst/>
            <a:gdLst/>
            <a:ahLst/>
            <a:cxnLst/>
            <a:rect l="l" t="t" r="r" b="b"/>
            <a:pathLst>
              <a:path w="1111250" h="304800">
                <a:moveTo>
                  <a:pt x="0" y="0"/>
                </a:moveTo>
                <a:lnTo>
                  <a:pt x="1073150" y="0"/>
                </a:lnTo>
                <a:arcTo wR="38100" hR="38100" stAng="16200000" swAng="5400000"/>
                <a:lnTo>
                  <a:pt x="1111250" y="266700"/>
                </a:lnTo>
                <a:arcTo wR="38100" hR="38100" stAng="0" swAng="5400000"/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A78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324350" y="3408679"/>
            <a:ext cx="1522413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22,4 ms · 4,68×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12800" y="4058921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Ganho quase ideal com 2 threads; acima de 4 ele satura. Em matrizes pequenas a paralela é mais lenta: criar as threads custa mais que o trabalho.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de 3 repetições · Intel Core 5 120U, 12 processadores lógicos · Ubuntu no WSL 2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Dificuldades e aprendizados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5975" y="1725296"/>
            <a:ext cx="5175250" cy="3448050"/>
          </a:xfrm>
          <a:prstGeom prst="roundRect">
            <a:avLst>
              <a:gd name="adj" fmla="val 2855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71880" y="1981200"/>
            <a:ext cx="480334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Dificuldades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71880" y="2468879"/>
            <a:ext cx="4803343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linguagem C, principalmente ponteiro para ponteiro: a matriz como int ** e o int *** para devolver a matriz alocada.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071880" y="3474721"/>
            <a:ext cx="4803343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primeira versão com threads contava errado e usava um mutex global que deixava o trabalho pesado em fila.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200775" y="1725296"/>
            <a:ext cx="5175250" cy="3448050"/>
          </a:xfrm>
          <a:prstGeom prst="roundRect">
            <a:avLst>
              <a:gd name="adj" fmla="val 2855"/>
            </a:avLst>
          </a:prstGeom>
          <a:solidFill>
            <a:srgbClr val="FDFDFB"/>
          </a:solidFill>
          <a:ln w="6350">
            <a:solidFill>
              <a:srgbClr val="DEDCD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56680" y="1981200"/>
            <a:ext cx="480334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1F5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Aprendizados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6456680" y="2468879"/>
            <a:ext cx="4803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Evitar condição de corrida pelo desenho da divisão, não por mutex.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56680" y="3190242"/>
            <a:ext cx="4803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Dividir é só metade: a consolidação é o que garante a resposta certa.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56680" y="3911600"/>
            <a:ext cx="48033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threads não significa mais velocidade.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456680" y="4348479"/>
            <a:ext cx="4803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desempenho exige método: repetições e mediana.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Conclusão: as duas abordagens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812800" y="1907146"/>
            <a:ext cx="5130800" cy="0"/>
          </a:xfrm>
          <a:prstGeom prst="line">
            <a:avLst/>
          </a:prstGeom>
          <a:noFill/>
          <a:ln w="38100">
            <a:solidFill>
              <a:srgbClr val="B9C4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2800" y="2126853"/>
            <a:ext cx="528472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Sequencial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12800" y="2563732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8FB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flood fill com pilha, uma única thread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12800" y="2878696"/>
            <a:ext cx="5284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Simples e serve de referência: é com ela que conferimos a resposta.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12800" y="3549253"/>
            <a:ext cx="5284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 nas matrizes pequenas, onde termina em microssegundos.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248400" y="1907146"/>
            <a:ext cx="5130800" cy="0"/>
          </a:xfrm>
          <a:prstGeom prst="line">
            <a:avLst/>
          </a:prstGeom>
          <a:noFill/>
          <a:ln w="38100">
            <a:solidFill>
              <a:srgbClr val="8FB8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48400" y="2126853"/>
            <a:ext cx="528472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Paralela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6248400" y="2563732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8FB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blocos + threads + união das fronteiras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248400" y="2878696"/>
            <a:ext cx="5284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resultado da sequencial em todos os testes, sem usar mutex.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248400" y="3549253"/>
            <a:ext cx="5284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 na matriz grande: até 4,68× mais rápida, com 16 threads.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812800" y="4690511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Dividir em blocos sem escrita compartilhada e consolidar as fronteiras depois deu paralelismo real sem perder a correção. O ganho só aparece quando há dados suficientes para compensar o custo das threads.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812800" y="58318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9C4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github.com/rafaelavarao/T1_SISOP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agem paralela de objetos - T1 SISOP">
  <a:themeElements>
    <a:clrScheme name="Contagem paralela de objetos - T1 SISOP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1F5FB0"/>
      </a:accent1>
      <a:accent2>
        <a:srgbClr val="C2410C"/>
      </a:accent2>
      <a:accent3>
        <a:srgbClr val="2A78D6"/>
      </a:accent3>
      <a:accent4>
        <a:srgbClr val="8FB8EE"/>
      </a:accent4>
      <a:accent5>
        <a:srgbClr val="0F766E"/>
      </a:accent5>
      <a:accent6>
        <a:srgbClr val="4A5568"/>
      </a:accent6>
      <a:hlink>
        <a:srgbClr val="0563C1"/>
      </a:hlink>
      <a:folHlink>
        <a:srgbClr val="954F72"/>
      </a:folHlink>
    </a:clrScheme>
    <a:fontScheme name="Contagem paralela de objetos - T1 SISOP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2135</Words>
  <Application>Microsoft Office PowerPoint</Application>
  <PresentationFormat>Widescreen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IBM Plex Sans</vt:lpstr>
      <vt:lpstr>JetBrains Mono</vt:lpstr>
      <vt:lpstr>Contagem paralela de objetos - T1 SISOP</vt:lpstr>
      <vt:lpstr>Contagem paralela de objetos</vt:lpstr>
      <vt:lpstr>O problema</vt:lpstr>
      <vt:lpstr>Versão sequencial: flood fill iterativo</vt:lpstr>
      <vt:lpstr>Versão paralela: uma thread por bloco</vt:lpstr>
      <vt:lpstr>Nenhum mutex. Nenhuma região crítica.</vt:lpstr>
      <vt:lpstr>Consolidação das fronteiras</vt:lpstr>
      <vt:lpstr>Demonstração</vt:lpstr>
      <vt:lpstr>Testes de correção</vt:lpstr>
      <vt:lpstr>Desempenho na matriz 2000 × 2000</vt:lpstr>
      <vt:lpstr>Dificuldades e aprendizados</vt:lpstr>
      <vt:lpstr>Conclusão: as duas abordagens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Contagem paralela de objetos - T1 SISOP</dc:title>
  <dc:subject/>
  <dc:creator>Rafaela Varão</dc:creator>
  <cp:lastModifiedBy>RAFAELA VARÃO ALBUQUERQUE</cp:lastModifiedBy>
  <cp:revision>1</cp:revision>
  <dcterms:created xsi:type="dcterms:W3CDTF">2026-10-01T18:58:37Z</dcterms:created>
  <dcterms:modified xsi:type="dcterms:W3CDTF">2026-10-01T19:03:17Z</dcterms:modified>
</cp:coreProperties>
</file>